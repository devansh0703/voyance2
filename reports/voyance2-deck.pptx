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Test MAE (h)</c:v>
                </c:pt>
              </c:strCache>
            </c:strRef>
          </c:tx>
          <c:dPt>
            <c:idx val="0"/>
            <c:spPr>
              <a:solidFill>
                <a:srgbClr val="0E6E5C"/>
              </a:solidFill>
            </c:spPr>
          </c:dPt>
          <c:dPt>
            <c:idx val="1"/>
            <c:spPr>
              <a:solidFill>
                <a:srgbClr val="D7DAD2"/>
              </a:solidFill>
            </c:spPr>
          </c:dPt>
          <c:dPt>
            <c:idx val="2"/>
            <c:spPr>
              <a:solidFill>
                <a:srgbClr val="9CC5B8"/>
              </a:solidFill>
            </c:spPr>
          </c:dPt>
          <c:cat>
            <c:strRef>
              <c:f>Sheet1!$A$2:$A$4</c:f>
              <c:strCache>
                <c:ptCount val="3"/>
                <c:pt idx="0">
                  <c:v>XGBoost GPU (served)</c:v>
                </c:pt>
                <c:pt idx="1">
                  <c:v>Speed-prior baseline</c:v>
                </c:pt>
                <c:pt idx="2">
                  <c:v>LightGBM CPU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4.49</c:v>
                </c:pt>
                <c:pt idx="1">
                  <c:v>5.35</c:v>
                </c:pt>
                <c:pt idx="2">
                  <c:v>5.8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Slice MAE ratio vs reference</c:v>
                </c:pt>
              </c:strCache>
            </c:strRef>
          </c:tx>
          <c:dPt>
            <c:idx val="0"/>
            <c:spPr>
              <a:solidFill>
                <a:srgbClr val="FFB454"/>
              </a:solidFill>
            </c:spPr>
          </c:dPt>
          <c:dPt>
            <c:idx val="1"/>
            <c:spPr>
              <a:solidFill>
                <a:srgbClr val="0E6E5C"/>
              </a:solidFill>
            </c:spPr>
          </c:dPt>
          <c:cat>
            <c:strRef>
              <c:f>Sheet1!$A$2:$A$3</c:f>
              <c:strCache>
                <c:ptCount val="2"/>
                <c:pt idx="0">
                  <c:v>Apr 2024</c:v>
                </c:pt>
                <c:pt idx="1">
                  <c:v>Jul 2024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1.33</c:v>
                </c:pt>
                <c:pt idx="1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B454"/>
                </a:solidFill>
                <a:latin typeface="Consolas"/>
              </a:rPr>
              <a:t>OPEN SOURCE · LIVE MARITIME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>
                <a:solidFill>
                  <a:srgbClr val="F4F5F1"/>
                </a:solidFill>
                <a:latin typeface="Arial"/>
              </a:rPr>
              <a:t>Voyance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8036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E7ECE6"/>
                </a:solidFill>
                <a:latin typeface="Arial"/>
              </a:rPr>
              <a:t>Know where your ETA model fails — before the storm does.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977639"/>
            <a:ext cx="10881360" cy="12700"/>
          </a:xfrm>
          <a:prstGeom prst="rect">
            <a:avLst/>
          </a:prstGeom>
          <a:solidFill>
            <a:srgbClr val="2A2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B454"/>
                </a:solidFill>
                <a:latin typeface="Consolas"/>
              </a:rPr>
              <a:t>4.49 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20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8B948C"/>
                </a:solidFill>
                <a:latin typeface="Consolas"/>
              </a:rPr>
              <a:t>TEST MAE · GPU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429768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B454"/>
                </a:solidFill>
                <a:latin typeface="Consolas"/>
              </a:rPr>
              <a:t>83%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48920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8B948C"/>
                </a:solidFill>
                <a:latin typeface="Consolas"/>
              </a:rPr>
              <a:t>P10–P90 COVERAGE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29768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B454"/>
                </a:solidFill>
                <a:latin typeface="Consolas"/>
              </a:rPr>
              <a:t>8,020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8920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8B948C"/>
                </a:solidFill>
                <a:latin typeface="Consolas"/>
              </a:rPr>
              <a:t>REAL VOYAGES MODELED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6839" y="429768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B454"/>
                </a:solidFill>
                <a:latin typeface="Consolas"/>
              </a:rPr>
              <a:t>25+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39" y="48920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8B948C"/>
                </a:solidFill>
                <a:latin typeface="Consolas"/>
              </a:rPr>
              <a:t>OPEN DATA SOURCES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B948C"/>
                </a:solidFill>
                <a:latin typeface="Consolas"/>
              </a:rPr>
              <a:t>github.com/devansh0703/voyance2 · Apache-2.0 · every number reproducible from pipeline artifacts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D675F"/>
                </a:solidFill>
                <a:latin typeface="Consolas"/>
              </a:rPr>
              <a:t>THE PROBLEM · IDEALAB IDEA #586938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7201B"/>
                </a:solidFill>
                <a:latin typeface="Arial"/>
              </a:rPr>
              <a:t>Operators judge AI models from vendor claims.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60350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17201B"/>
                </a:solidFill>
                <a:latin typeface="Arial"/>
              </a:rPr>
              <a:t>A fleet team trusts a vendor's arrival estimate but cannot see where it fails in bad weather or certain waters.
Windward, PortXchange, WHIZTEC sell closed operational intelligence. Nobody ships an open, served, weather-conditioned model with honest error decomposition.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06640" y="201168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0E6E5C"/>
                </a:solidFill>
                <a:latin typeface="Consolas"/>
              </a:rPr>
              <a:t>$100M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2944368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D675F"/>
                </a:solidFill>
                <a:latin typeface="Consolas"/>
              </a:rPr>
              <a:t>WEDGE MARKET (MODEL ESTIMATE)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3749039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0E6E5C"/>
                </a:solidFill>
                <a:latin typeface="Consolas"/>
              </a:rPr>
              <a:t>$4.3B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4681727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D675F"/>
                </a:solidFill>
                <a:latin typeface="Consolas"/>
              </a:rPr>
              <a:t>WIDER MARITIME AI 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75F"/>
                </a:solidFill>
                <a:latin typeface="Consolas"/>
              </a:rPr>
              <a:t>Source: idealab.ai/idea-details/586938 market analysis (Grand View Research 2024 proxy)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D675F"/>
                </a:solidFill>
                <a:latin typeface="Consolas"/>
              </a:rPr>
              <a:t>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7201B"/>
                </a:solidFill>
                <a:latin typeface="Arial"/>
              </a:rPr>
              <a:t>A live maritime intelligence terminal, open 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B454"/>
                </a:solidFill>
                <a:latin typeface="Consola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95728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E6E5C"/>
                </a:solidFill>
                <a:latin typeface="Consolas"/>
              </a:rPr>
              <a:t>INGEST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88920"/>
            <a:ext cx="2057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7201B"/>
                </a:solidFill>
                <a:latin typeface="Arial"/>
              </a:rPr>
              <a:t>NOAA MarineCadastre AIS
+ UN/LOCODE 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42032" y="20116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D7DAD2"/>
                </a:solidFill>
                <a:latin typeface="Arial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196596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B454"/>
                </a:solidFill>
                <a:latin typeface="Consola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2395728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E6E5C"/>
                </a:solidFill>
                <a:latin typeface="Consolas"/>
              </a:rPr>
              <a:t>VOYAGEIZE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788920"/>
            <a:ext cx="2057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7201B"/>
                </a:solidFill>
                <a:latin typeface="Arial"/>
              </a:rPr>
              <a:t>port-buffer segmentation
plausibility filters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2312" y="20116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D7DAD2"/>
                </a:solidFill>
                <a:latin typeface="Arial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96596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B454"/>
                </a:solidFill>
                <a:latin typeface="Consola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395728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E6E5C"/>
                </a:solidFill>
                <a:latin typeface="Consolas"/>
              </a:rPr>
              <a:t>WEATHERIZE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788920"/>
            <a:ext cx="2057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7201B"/>
                </a:solidFill>
                <a:latin typeface="Arial"/>
              </a:rPr>
              <a:t>ERA5 wind · waves · swell
hourly grid join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2592" y="20116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D7DAD2"/>
                </a:solidFill>
                <a:latin typeface="Arial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196596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B454"/>
                </a:solidFill>
                <a:latin typeface="Consolas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395728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E6E5C"/>
                </a:solidFill>
                <a:latin typeface="Consolas"/>
              </a:rPr>
              <a:t>SERVE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2788920"/>
            <a:ext cx="2057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7201B"/>
                </a:solidFill>
                <a:latin typeface="Arial"/>
              </a:rPr>
              <a:t>GPU quantile ETA
FastAPI /v1 /v2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0116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D7DAD2"/>
                </a:solidFill>
                <a:latin typeface="Arial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196596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B454"/>
                </a:solidFill>
                <a:latin typeface="Consolas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2395728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E6E5C"/>
                </a:solidFill>
                <a:latin typeface="Consolas"/>
              </a:rPr>
              <a:t>WATCH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2788920"/>
            <a:ext cx="2057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7201B"/>
                </a:solidFill>
                <a:latin typeface="Arial"/>
              </a:rPr>
              <a:t>drift PSI/KS
Evidently + alerts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160520"/>
            <a:ext cx="11064240" cy="12700"/>
          </a:xfrm>
          <a:prstGeom prst="rect">
            <a:avLst/>
          </a:prstGeom>
          <a:solidFill>
            <a:srgbClr val="D7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389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D675F"/>
                </a:solidFill>
                <a:latin typeface="Arial"/>
              </a:rPr>
              <a:t>Every layer is open data and open code: NOAA/CC0 · Open-Meteo/CC BY 4.0 · OSM/ODbL · Digitraffic/CC BY 4.0 · EMODnet · USGS · OBIS/GBIF. Zero signups, zero fabricated numbers.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D675F"/>
                </a:solidFill>
                <a:latin typeface="Consolas"/>
              </a:rPr>
              <a:t>THE MODEL · TRAINED ON THE OWNER'S RTX 4060 (CUDA)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7201B"/>
                </a:solidFill>
                <a:latin typeface="Arial"/>
              </a:rPr>
              <a:t>Beats the speed prior by 16% — and stays calibrated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828800"/>
          <a:ext cx="658368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98079" y="2011680"/>
            <a:ext cx="4114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0E6E5C"/>
                </a:solidFill>
                <a:latin typeface="Consolas"/>
              </a:rPr>
              <a:t>4.49 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29718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D675F"/>
                </a:solidFill>
                <a:latin typeface="Consolas"/>
              </a:rPr>
              <a:t>TEST MAE — JULY 2024 HOLDOUT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79" y="3566160"/>
            <a:ext cx="3931920" cy="12700"/>
          </a:xfrm>
          <a:prstGeom prst="rect">
            <a:avLst/>
          </a:prstGeom>
          <a:solidFill>
            <a:srgbClr val="D7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3749039"/>
            <a:ext cx="42062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17201B"/>
                </a:solidFill>
                <a:latin typeface="Arial"/>
              </a:rPr>
              <a:t>· Quantile P10/P50/P90, conformal-calibrated (CQR, Romano 2019)
· 83% empirical coverage vs 80% nominal
· Physics-informed ratio features — trees can't divide
· 18,040 train / 12,924 test rows, voyage-disjoint split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75F"/>
                </a:solidFill>
                <a:latin typeface="Consolas"/>
              </a:rPr>
              <a:t>Source: reports/eval.json (generated by pipeline/train.py — not hand-entered)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D675F"/>
                </a:solidFill>
                <a:latin typeface="Consolas"/>
              </a:rPr>
              <a:t>THE PRODUCT IS THE PREDICTION, LAID 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7201B"/>
                </a:solidFill>
                <a:latin typeface="Arial"/>
              </a:rPr>
              <a:t>Not a point estimate — a full voyage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5394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7201B"/>
                </a:solidFill>
                <a:latin typeface="Arial"/>
              </a:rPr>
              <a:t>· Actual track + remaining leg on real chart geography
· Drift cone sized by the P10–P90 lateral spread
· Historical analog voyages drawn dashed — same port, same ship type
· ETA quantile cards with distance-to-go and fix count
· One GeoJSON endpoint: /v2/predict/route/{voyage}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210312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6E5C"/>
                </a:solidFill>
                <a:latin typeface="Consolas"/>
              </a:rPr>
              <a:t>P10/P50/P90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3035808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D675F"/>
                </a:solidFill>
                <a:latin typeface="Consolas"/>
              </a:rPr>
              <a:t>CONFORMAL ETA BAND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0" y="3429000"/>
            <a:ext cx="4754880" cy="12700"/>
          </a:xfrm>
          <a:prstGeom prst="rect">
            <a:avLst/>
          </a:prstGeom>
          <a:solidFill>
            <a:srgbClr val="D7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365760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B454"/>
                </a:solidFill>
                <a:latin typeface="Consolas"/>
              </a:rPr>
              <a:t>±2.73 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4590288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D675F"/>
                </a:solidFill>
                <a:latin typeface="Consolas"/>
              </a:rPr>
              <a:t>CQR INTERVAL ADJUSTMENT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75F"/>
                </a:solidFill>
                <a:latin typeface="Consolas"/>
              </a:rPr>
              <a:t>Live at http://127.0.0.1:8010/predict · GeoJSON served by XGBoost quantile models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D675F"/>
                </a:solidFill>
                <a:latin typeface="Consolas"/>
              </a:rPr>
              <a:t>LIVE OPERATIONS · NO SIGNUP FEEDS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7201B"/>
                </a:solidFill>
                <a:latin typeface="Arial"/>
              </a:rPr>
              <a:t>Real-time fleet picture with collision watch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E6E5C"/>
                </a:solidFill>
                <a:latin typeface="Consolas"/>
              </a:rPr>
              <a:t>LIVE 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920240"/>
            <a:ext cx="8778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7201B"/>
                </a:solidFill>
                <a:latin typeface="Arial"/>
              </a:rPr>
              <a:t>300 vessels · Digitraffic Finland · 20 s refresh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11064240" cy="12700"/>
          </a:xfrm>
          <a:prstGeom prst="rect">
            <a:avLst/>
          </a:prstGeom>
          <a:solidFill>
            <a:srgbClr val="D7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67004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E6E5C"/>
                </a:solidFill>
                <a:latin typeface="Consolas"/>
              </a:rPr>
              <a:t>COLLISION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670048"/>
            <a:ext cx="8778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7201B"/>
                </a:solidFill>
                <a:latin typeface="Arial"/>
              </a:rPr>
              <a:t>DCPA/TCPA solver · Goodwin-Stanton ellipses · fuzzy CRI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27248"/>
            <a:ext cx="11064240" cy="12700"/>
          </a:xfrm>
          <a:prstGeom prst="rect">
            <a:avLst/>
          </a:prstGeom>
          <a:solidFill>
            <a:srgbClr val="D7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419856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E6E5C"/>
                </a:solidFill>
                <a:latin typeface="Consolas"/>
              </a:rPr>
              <a:t>TRACKING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419856"/>
            <a:ext cx="8778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7201B"/>
                </a:solidFill>
                <a:latin typeface="Arial"/>
              </a:rPr>
              <a:t>EKF + UKF filters · Douglas-Peucker · Fréchet residuals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877056"/>
            <a:ext cx="11064240" cy="12700"/>
          </a:xfrm>
          <a:prstGeom prst="rect">
            <a:avLst/>
          </a:prstGeom>
          <a:solidFill>
            <a:srgbClr val="D7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169663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E6E5C"/>
                </a:solidFill>
                <a:latin typeface="Consolas"/>
              </a:rPr>
              <a:t>OVERLAYS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169663"/>
            <a:ext cx="8778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7201B"/>
                </a:solidFill>
                <a:latin typeface="Arial"/>
              </a:rPr>
              <a:t>MPA polygons · quakes · radar loop · SAR chips · harbors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626864"/>
            <a:ext cx="11064240" cy="12700"/>
          </a:xfrm>
          <a:prstGeom prst="rect">
            <a:avLst/>
          </a:prstGeom>
          <a:solidFill>
            <a:srgbClr val="D7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919472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E6E5C"/>
                </a:solidFill>
                <a:latin typeface="Consolas"/>
              </a:rPr>
              <a:t>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919472"/>
            <a:ext cx="8778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7201B"/>
                </a:solidFill>
                <a:latin typeface="Arial"/>
              </a:rPr>
              <a:t>IQR/z-score audit · upstream health · event ticker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376672"/>
            <a:ext cx="11064240" cy="12700"/>
          </a:xfrm>
          <a:prstGeom prst="rect">
            <a:avLst/>
          </a:prstGeom>
          <a:solidFill>
            <a:srgbClr val="D7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75F"/>
                </a:solidFill>
                <a:latin typeface="Consolas"/>
              </a:rPr>
              <a:t>Encounter view draws safety-domain ellipses + CPA extension lines on the chart — /live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D675F"/>
                </a:solidFill>
                <a:latin typeface="Consolas"/>
              </a:rPr>
              <a:t>EXPLAINABLE BY CONSTRUCTION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7201B"/>
                </a:solidFill>
                <a:latin typeface="Arial"/>
              </a:rPr>
              <a:t>An AI analyst that cites real voyages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585216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17201B"/>
                </a:solidFill>
                <a:latin typeface="Arial"/>
              </a:rPr>
              <a:t>“Why will this route drift tomorrow for this ship type?”
The answer is generated only from a context packet: live forecast + waves at the vessel, the model's tested MAE and top features, and the actual historical analog voyages — each named, each replayable on the map.
Provider chain: OPENCODE_API_KEY first, chat-verified Groq/OpenRouter fallback — every response states who served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9659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D675F"/>
                </a:solidFill>
                <a:latin typeface="Consolas"/>
              </a:rPr>
              <a:t>PARSED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37744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B454"/>
                </a:solidFill>
                <a:latin typeface="Consolas"/>
              </a:rPr>
              <a:t>## Headline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944368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E6E5C"/>
                </a:solidFill>
                <a:latin typeface="Consolas"/>
              </a:rPr>
              <a:t>## Why drift is expected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3511296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E6E5C"/>
                </a:solidFill>
                <a:latin typeface="Consolas"/>
              </a:rPr>
              <a:t>## Reference backing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4078224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E6E5C"/>
                </a:solidFill>
                <a:latin typeface="Consolas"/>
              </a:rPr>
              <a:t>## What to watch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4709160"/>
            <a:ext cx="4754880" cy="12700"/>
          </a:xfrm>
          <a:prstGeom prst="rect">
            <a:avLst/>
          </a:prstGeom>
          <a:solidFill>
            <a:srgbClr val="D7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489204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D675F"/>
                </a:solidFill>
                <a:latin typeface="Consolas"/>
              </a:rPr>
              <a:t>references = real voyage_ids
replayable in one click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75F"/>
                </a:solidFill>
                <a:latin typeface="Consolas"/>
              </a:rPr>
              <a:t>POST /v2/ai/explain · answers forbidden from inventing numbers outside the context packet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D675F"/>
                </a:solidFill>
                <a:latin typeface="Consolas"/>
              </a:rPr>
              <a:t>PRODUCTION HONESTY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7201B"/>
                </a:solidFill>
                <a:latin typeface="Arial"/>
              </a:rPr>
              <a:t>Drift monitoring with alerts, not vibes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828800"/>
          <a:ext cx="512064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217920" y="1920240"/>
            <a:ext cx="548640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7201B"/>
                </a:solidFill>
                <a:latin typeface="Arial"/>
              </a:rPr>
              <a:t>· Evidently DataDrift per feature: PSI + KS
· Alert rule: PSI &gt; 0.2 or MAE ratio &gt; 1.25
· April slice drifted on distance/SOG mix — caught,
   explained, surfaced as a chip on the dashboard
· Machine-readable alerts at /v1/drift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75F"/>
                </a:solidFill>
                <a:latin typeface="Consolas"/>
              </a:rPr>
              <a:t>Source: reports/drift_summary.json + Evidently HTML reports in reports/drift/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D675F"/>
                </a:solidFill>
                <a:latin typeface="Consolas"/>
              </a:rPr>
              <a:t>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7201B"/>
                </a:solidFill>
                <a:latin typeface="Arial"/>
              </a:rPr>
              <a:t>The open slot in the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D675F"/>
                </a:solidFill>
                <a:latin typeface="Consolas"/>
              </a:rPr>
              <a:t>CLOSED VENDORS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35661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17201B"/>
                </a:solidFill>
                <a:latin typeface="Arial"/>
              </a:rPr>
              <a:t>Windward · PortXchange
WHIZTEC · Broadpath
Kairon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611880"/>
            <a:ext cx="3383280" cy="12700"/>
          </a:xfrm>
          <a:prstGeom prst="rect">
            <a:avLst/>
          </a:prstGeom>
          <a:solidFill>
            <a:srgbClr val="D7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35661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D675F"/>
                </a:solidFill>
                <a:latin typeface="Arial"/>
              </a:rPr>
              <a:t>Operational visibility,
not independent error audit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9202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D675F"/>
                </a:solidFill>
                <a:latin typeface="Consolas"/>
              </a:rPr>
              <a:t>OPEN BENCHMARKS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2377440"/>
            <a:ext cx="35661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17201B"/>
                </a:solidFill>
                <a:latin typeface="Arial"/>
              </a:rPr>
              <a:t>WUT-TrajData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3611880"/>
            <a:ext cx="3383280" cy="12700"/>
          </a:xfrm>
          <a:prstGeom prst="rect">
            <a:avLst/>
          </a:prstGeom>
          <a:solidFill>
            <a:srgbClr val="D7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3794760"/>
            <a:ext cx="35661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D675F"/>
                </a:solidFill>
                <a:latin typeface="Arial"/>
              </a:rPr>
              <a:t>Dataset + baselines,
not a served product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19202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E6E5C"/>
                </a:solidFill>
                <a:latin typeface="Consolas"/>
              </a:rPr>
              <a:t>VOYANCE II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377440"/>
            <a:ext cx="35661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7201B"/>
                </a:solidFill>
                <a:latin typeface="Arial"/>
              </a:rPr>
              <a:t>Apache-2.0 · self-host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3611880"/>
            <a:ext cx="3383280" cy="12700"/>
          </a:xfrm>
          <a:prstGeom prst="rect">
            <a:avLst/>
          </a:prstGeom>
          <a:solidFill>
            <a:srgbClr val="D7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3794760"/>
            <a:ext cx="35661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D675F"/>
                </a:solidFill>
                <a:latin typeface="Arial"/>
              </a:rPr>
              <a:t>Served quantile model +
scorecard + AI analyst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75F"/>
                </a:solidFill>
                <a:latin typeface="Consolas"/>
              </a:rPr>
              <a:t>Landscape from idealab #586938 competitor analysis · full matrix on the landing page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887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B454"/>
                </a:solidFill>
                <a:latin typeface="Consolas"/>
              </a:rPr>
              <a:t>RUN IT YOURSELF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108813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4F5F1"/>
                </a:solidFill>
                <a:latin typeface="Arial"/>
              </a:rPr>
              <a:t>git clone · make data · make train · make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3017520"/>
            <a:ext cx="10881360" cy="12700"/>
          </a:xfrm>
          <a:prstGeom prst="rect">
            <a:avLst/>
          </a:prstGeom>
          <a:solidFill>
            <a:srgbClr val="2A2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9184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>
                <a:solidFill>
                  <a:srgbClr val="E7ECE6"/>
                </a:solidFill>
                <a:latin typeface="Arial"/>
              </a:rPr>
              <a:t>Or just:  ./start.sh   — one script boots the API, dashboards, live feeds
and the AI analyst on your machine. GPU training included.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B948C"/>
                </a:solidFill>
                <a:latin typeface="Consolas"/>
              </a:rPr>
              <a:t>github.com/devansh0703/voyance2  ·  Apache-2.0  ·  built on open data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B454"/>
                </a:solidFill>
                <a:latin typeface="Arial"/>
              </a:rPr>
              <a:t>Voyance II — open-source maritime voyage 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